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2" r:id="rId3"/>
    <p:sldId id="258" r:id="rId4"/>
    <p:sldId id="273" r:id="rId5"/>
    <p:sldId id="259" r:id="rId6"/>
    <p:sldId id="260" r:id="rId7"/>
    <p:sldId id="261" r:id="rId8"/>
    <p:sldId id="262" r:id="rId9"/>
    <p:sldId id="263" r:id="rId10"/>
    <p:sldId id="271" r:id="rId11"/>
    <p:sldId id="269" r:id="rId12"/>
    <p:sldId id="267" r:id="rId13"/>
    <p:sldId id="270" r:id="rId14"/>
    <p:sldId id="268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2912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6D760-FAD1-AC9A-488F-1473E6F6C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50B42F-305B-995C-4F97-DB14A369C2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25F52C-3DEA-4C3C-1836-B7F9487604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ADA51-9D3E-1421-BB79-0A630B6CAE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684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iprathap22/Predicting-Bike-Sharing-Demand-Using-Machine-Learning-and-Temporal-Feature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-365760"/>
            <a:ext cx="2926080" cy="292608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Data Science  ·  University of Hertfordshire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7772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Bike Sharing</a:t>
            </a:r>
            <a:endParaRPr lang="en-US" sz="3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Using Machine</a:t>
            </a:r>
            <a:endParaRPr lang="en-US" sz="3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&amp; Temporal Features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11480" y="40233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Thammishetti Venkat Sai Prathap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79" y="4572000"/>
            <a:ext cx="7374776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r>
              <a:rPr lang="en-IN" sz="1100" dirty="0" err="1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en-IN" sz="11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: https://github.com/Saiprathap22/Predicting-Bike-Sharing-Demand-Using-Machine-Learning-and-Temporal-Features</a:t>
            </a:r>
            <a:endParaRPr lang="en-IN" sz="11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11480" y="45720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34440"/>
            <a:ext cx="5029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344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23444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Research Question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984248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984248"/>
            <a:ext cx="5029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84248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1984248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734056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734056"/>
            <a:ext cx="5029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734056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734056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3483864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483864"/>
            <a:ext cx="5029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483864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483864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" y="4233672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4233672"/>
            <a:ext cx="5029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233672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4233672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00600" y="123444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1234440"/>
            <a:ext cx="5029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2344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94960" y="123444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00600" y="1984248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1984248"/>
            <a:ext cx="5029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1984248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94960" y="1984248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00600" y="2734056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2734056"/>
            <a:ext cx="5029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734056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94960" y="2734056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Comparison to Literature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800600" y="3483864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00600" y="3483864"/>
            <a:ext cx="5029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3483864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09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394960" y="3483864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300" dirty="0"/>
          </a:p>
        </p:txBody>
      </p:sp>
      <p:sp>
        <p:nvSpPr>
          <p:cNvPr id="41" name="Shape 35">
            <a:extLst>
              <a:ext uri="{FF2B5EF4-FFF2-40B4-BE49-F238E27FC236}">
                <a16:creationId xmlns:a16="http://schemas.microsoft.com/office/drawing/2014/main" id="{11F07A40-9171-78BE-CD50-0BB62F430C10}"/>
              </a:ext>
            </a:extLst>
          </p:cNvPr>
          <p:cNvSpPr/>
          <p:nvPr/>
        </p:nvSpPr>
        <p:spPr>
          <a:xfrm>
            <a:off x="4800600" y="4239907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36">
            <a:extLst>
              <a:ext uri="{FF2B5EF4-FFF2-40B4-BE49-F238E27FC236}">
                <a16:creationId xmlns:a16="http://schemas.microsoft.com/office/drawing/2014/main" id="{697A557E-D75F-7298-6503-F0B614D3B2FB}"/>
              </a:ext>
            </a:extLst>
          </p:cNvPr>
          <p:cNvSpPr/>
          <p:nvPr/>
        </p:nvSpPr>
        <p:spPr>
          <a:xfrm>
            <a:off x="4800600" y="4232287"/>
            <a:ext cx="5029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A697162-0FC8-B89E-0469-3A1826F12361}"/>
              </a:ext>
            </a:extLst>
          </p:cNvPr>
          <p:cNvSpPr txBox="1"/>
          <p:nvPr/>
        </p:nvSpPr>
        <p:spPr>
          <a:xfrm>
            <a:off x="4849091" y="4426527"/>
            <a:ext cx="5029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ECC6B9F-ADDD-E4F6-0433-644247FA3B35}"/>
              </a:ext>
            </a:extLst>
          </p:cNvPr>
          <p:cNvSpPr txBox="1"/>
          <p:nvPr/>
        </p:nvSpPr>
        <p:spPr>
          <a:xfrm>
            <a:off x="5303520" y="4449610"/>
            <a:ext cx="2743200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ea typeface="Calibri" pitchFamily="34" charset="-122"/>
                <a:cs typeface="Calibri" pitchFamily="34" charset="-120"/>
              </a:rPr>
              <a:t>References</a:t>
            </a:r>
            <a:endParaRPr lang="en-US" sz="1300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8321040" cy="868680"/>
          </a:xfrm>
          <a:prstGeom prst="rect">
            <a:avLst/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05840"/>
            <a:ext cx="7315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05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accurately can machine learning and time series models predict hourly bike rental demand using environmental and temporal features?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2011680"/>
            <a:ext cx="41148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011680"/>
            <a:ext cx="41148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20116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395728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Bike-sharing systems struggle with demand prediction due to complex temporal and environmental patterns</a:t>
            </a:r>
            <a:endParaRPr lang="en-US" sz="115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Weather, time-of-day, and season create nonlinear interactions that traditional models cannot capture</a:t>
            </a:r>
            <a:endParaRPr lang="en-US" sz="115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Inaccurate forecasts lead to bike shortages and inefficient resource allocation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00600" y="2011680"/>
            <a:ext cx="41148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2011680"/>
            <a:ext cx="41148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0328" y="20116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436876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Bike Sharing Dataset (17,379 hourly records, 2011–2012)</a:t>
            </a:r>
            <a:endParaRPr lang="en-US" sz="115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Cyclical (sin/cos) feature engineering for hour, month — preserving temporal continuity</a:t>
            </a:r>
            <a:endParaRPr lang="en-US" sz="115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 paradigms: Random Forest, XGBoost (with lag features), and SARIMA</a:t>
            </a:r>
            <a:endParaRPr lang="en-US" sz="115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Time-aware cross-validation (TimeSeriesSplit) to prevent leakage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8321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05840"/>
            <a:ext cx="64008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06070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Shaheen, Guzman &amp; Zhang (2010)</a:t>
            </a:r>
            <a:r>
              <a:rPr lang="en-US" sz="1050" i="1" dirty="0">
                <a:solidFill>
                  <a:srgbClr val="64748B"/>
                </a:solidFill>
              </a:rPr>
              <a:t>   Transportation Research Record, 2143(1), 159–167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280160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Global review of bikesharing systems across Europe, Americas and Asia (100+ programmes, 139,300 bicycles).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6928" y="1481328"/>
            <a:ext cx="8046720" cy="0"/>
          </a:xfrm>
          <a:prstGeom prst="line">
            <a:avLst/>
          </a:prstGeom>
          <a:noFill/>
          <a:ln w="6350">
            <a:solidFill>
              <a:srgbClr val="E8EE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50876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three bikesharing generations — Free Bikes, Coin-Deposit, and IT-Based Systems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that accurate demand forecasting is critical for efficient rebalancing and fleet management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weather, time-of-day, and redistribution as key operational challenges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2039112"/>
            <a:ext cx="530352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03911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Gap: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43000" y="2039112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C3AED"/>
                </a:solidFill>
              </a:rPr>
              <a:t>No predictive ML model; motivates the need for data-driven demand forecasting.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2350008"/>
            <a:ext cx="8321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350008"/>
            <a:ext cx="64008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404872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Sathishkumar, Park &amp; Cho (2020)</a:t>
            </a:r>
            <a:r>
              <a:rPr lang="en-US" sz="1050" i="1" dirty="0">
                <a:solidFill>
                  <a:srgbClr val="64748B"/>
                </a:solidFill>
              </a:rPr>
              <a:t>   Computer Communications, 153, 353–366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" y="2624328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Five regression models (GBM, XGBTree, SVM, BT, LM) on Seoul Bike dataset with weather &amp; temporal features.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" y="2825496"/>
            <a:ext cx="8046720" cy="0"/>
          </a:xfrm>
          <a:prstGeom prst="line">
            <a:avLst/>
          </a:prstGeom>
          <a:noFill/>
          <a:ln w="6350">
            <a:solidFill>
              <a:srgbClr val="E8EE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85292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 achieved best test R²=0.92, RMSE=172.73 — outperforming SVM, BT and LM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and Temperature identified as the two most influential predictors across all models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(dummy variables for seasons/weekdays) significantly improved accuracy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" y="3383280"/>
            <a:ext cx="53035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38328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Gap: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43000" y="3383280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9488"/>
                </a:solidFill>
              </a:rPr>
              <a:t>No lag/autocorrelation features; no cyclical encoding; static 75/25 split (not time-based).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3694176"/>
            <a:ext cx="8321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3694176"/>
            <a:ext cx="64008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749040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Sathishkumar &amp; Cho (2020)</a:t>
            </a:r>
            <a:r>
              <a:rPr lang="en-US" sz="1050" i="1" dirty="0">
                <a:solidFill>
                  <a:srgbClr val="64748B"/>
                </a:solidFill>
              </a:rPr>
              <a:t>   European Journal of Remote Sensing, 53(S1), 166–183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" y="3968496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Rule-based CUBIST model vs RRF, CART, KNN, CIT on Seoul Bike and Capital Bikeshare datasets.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66928" y="4169664"/>
            <a:ext cx="8046720" cy="0"/>
          </a:xfrm>
          <a:prstGeom prst="line">
            <a:avLst/>
          </a:prstGeom>
          <a:noFill/>
          <a:ln w="6350">
            <a:solidFill>
              <a:srgbClr val="E8EE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197096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CUBIST achieved R²=0.95 (Seoul) and R²=0.89 (Capital Bikeshare) — best among all models tested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and Hour consistently ranked as top predictors across both datasets and all models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models offer interpretability advantages over black-box ensemble methods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6928" y="4727448"/>
            <a:ext cx="53035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472744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Gap: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43000" y="4727448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59E0B"/>
                </a:solidFill>
              </a:rPr>
              <a:t>No lag features capturing temporal autocorrelation; no SARIMA baseline for time-series comparison.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 — UCI Bike Sharing Dataset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2560320" cy="1097280"/>
          </a:xfrm>
          <a:prstGeom prst="rect">
            <a:avLst/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60120"/>
            <a:ext cx="25603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2412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17,379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16642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Records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560320" cy="1097280"/>
          </a:xfrm>
          <a:prstGeom prst="rect">
            <a:avLst/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60120"/>
            <a:ext cx="25603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02412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00400" y="16642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Features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9320" y="960120"/>
            <a:ext cx="2560320" cy="1097280"/>
          </a:xfrm>
          <a:prstGeom prst="rect">
            <a:avLst/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9320" y="960120"/>
            <a:ext cx="25603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102412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989320" y="16642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(2011–12)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2331720"/>
            <a:ext cx="25603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2331720"/>
            <a:ext cx="256032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(5)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" y="2859024"/>
            <a:ext cx="2377440" cy="1551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</a:t>
            </a:r>
            <a:endParaRPr lang="en-US" sz="1150" dirty="0"/>
          </a:p>
          <a:p>
            <a:pPr marL="342900" indent="-342900">
              <a:lnSpc>
                <a:spcPct val="1500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weathersit</a:t>
            </a:r>
            <a:endParaRPr lang="en-US" sz="1150" dirty="0"/>
          </a:p>
          <a:p>
            <a:pPr marL="342900" indent="-342900">
              <a:lnSpc>
                <a:spcPct val="1500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</a:t>
            </a:r>
            <a:endParaRPr lang="en-US" sz="1150" dirty="0"/>
          </a:p>
          <a:p>
            <a:pPr marL="342900" indent="-342900">
              <a:lnSpc>
                <a:spcPct val="1500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</a:t>
            </a:r>
            <a:endParaRPr lang="en-US" sz="1150" dirty="0"/>
          </a:p>
          <a:p>
            <a:pPr marL="342900" indent="-342900">
              <a:lnSpc>
                <a:spcPct val="1500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workingday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0" y="2331720"/>
            <a:ext cx="25603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331720"/>
            <a:ext cx="256032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(4)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91840" y="2859024"/>
            <a:ext cx="2377440" cy="1378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(hour)</a:t>
            </a:r>
            <a:endParaRPr lang="en-US" sz="1150" dirty="0"/>
          </a:p>
          <a:p>
            <a:pPr marL="342900" indent="-342900">
              <a:lnSpc>
                <a:spcPct val="1500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mnth (month)</a:t>
            </a:r>
            <a:endParaRPr lang="en-US" sz="1150" dirty="0"/>
          </a:p>
          <a:p>
            <a:pPr marL="342900" indent="-342900">
              <a:lnSpc>
                <a:spcPct val="1500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(year)</a:t>
            </a:r>
            <a:endParaRPr lang="en-US" sz="1150" dirty="0"/>
          </a:p>
          <a:p>
            <a:pPr marL="342900" indent="-342900">
              <a:lnSpc>
                <a:spcPct val="1500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dteday (date)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989320" y="2331720"/>
            <a:ext cx="25603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89320" y="2331720"/>
            <a:ext cx="256032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(7)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89320" y="2709811"/>
            <a:ext cx="2377440" cy="17006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/ atemp</a:t>
            </a:r>
            <a:endParaRPr lang="en-US" sz="1150" dirty="0"/>
          </a:p>
          <a:p>
            <a:pPr marL="342900" indent="-342900">
              <a:lnSpc>
                <a:spcPct val="1500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 (humidity)</a:t>
            </a:r>
            <a:endParaRPr lang="en-US" sz="1150" dirty="0"/>
          </a:p>
          <a:p>
            <a:pPr marL="342900" indent="-342900">
              <a:lnSpc>
                <a:spcPct val="1500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windspeed</a:t>
            </a:r>
            <a:endParaRPr lang="en-US" sz="1150" dirty="0"/>
          </a:p>
          <a:p>
            <a:pPr marL="342900" indent="-342900">
              <a:lnSpc>
                <a:spcPct val="1500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/ registered</a:t>
            </a:r>
            <a:endParaRPr lang="en-US" sz="1150" dirty="0"/>
          </a:p>
          <a:p>
            <a:pPr marL="342900" indent="-342900">
              <a:lnSpc>
                <a:spcPct val="1500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cnt ← TARGET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05840" y="1627632"/>
            <a:ext cx="0" cy="210312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51560"/>
            <a:ext cx="83210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51560"/>
            <a:ext cx="502920" cy="5852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51560"/>
            <a:ext cx="502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051560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Leakage &amp; IDs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casual &amp; registered (sum to target cnt). Removed dteday (date string).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2414016"/>
            <a:ext cx="0" cy="210312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847088"/>
            <a:ext cx="83210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1837944"/>
            <a:ext cx="502920" cy="5852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837944"/>
            <a:ext cx="502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1837944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Cyclical Encoding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Hour, month → sin/cos pairs to preserve circular continuity (e.g. 23h ≈ 0h).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05840" y="3200400"/>
            <a:ext cx="0" cy="210312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624328"/>
            <a:ext cx="83210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624328"/>
            <a:ext cx="502920" cy="5852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624328"/>
            <a:ext cx="502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624328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Encoding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encoding for season, weathersit, weekday, holiday, workingday.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05840" y="3986784"/>
            <a:ext cx="0" cy="210312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410712"/>
            <a:ext cx="83210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410712"/>
            <a:ext cx="502920" cy="5852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410712"/>
            <a:ext cx="502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3410712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 (XGBoost)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lag_1 (1 hr), lag_24 (daily), lag_168 (weekly) — capture autocorrelation.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1480" y="4197096"/>
            <a:ext cx="83210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4197096"/>
            <a:ext cx="502920" cy="5852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197096"/>
            <a:ext cx="502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4197096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Train/Test Split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(2011 – mid 2012) / 20% test (latter 2012) — no future leakage.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Temperature &amp; Correlations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60120"/>
            <a:ext cx="41148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601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Temperature vs. Count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peaks at moderate temps (0.4–0.7).</a:t>
            </a: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 relationship — a straight-line model would under-fit.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At very high temperatures, demand slightly decreases.</a:t>
            </a:r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63440" y="96012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960120"/>
            <a:ext cx="41148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0" y="9601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Correlations Heatmap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754880" y="400906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/>
              <a:t>Temperature (temp, </a:t>
            </a:r>
            <a:r>
              <a:rPr lang="en-US" sz="1050" dirty="0" err="1"/>
              <a:t>atemp</a:t>
            </a:r>
            <a:r>
              <a:rPr lang="en-US" sz="1050" dirty="0"/>
              <a:t>) has strong positive correlation with demand (</a:t>
            </a:r>
            <a:r>
              <a:rPr lang="en-US" sz="1050" dirty="0" err="1"/>
              <a:t>cnt</a:t>
            </a:r>
            <a:r>
              <a:rPr lang="en-US" sz="105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/>
              <a:t>Humidity (hum) shows negative correlation with demand.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/>
              <a:t>Windspeed has weak correlation with demand.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/>
              <a:t>Hour and seasonal features show moderate relationships.</a:t>
            </a: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50733A3F-A7A3-F2E7-44B5-33B15539BC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12" y="1349126"/>
            <a:ext cx="3862924" cy="2584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9EA410A-F70F-A0C3-573D-B20225AE8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349126"/>
            <a:ext cx="3643746" cy="2597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Temporal Patterns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5212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60120"/>
            <a:ext cx="52120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601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Average Hourly Demand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760720" y="960120"/>
            <a:ext cx="3017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60720" y="960120"/>
            <a:ext cx="54864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9788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Pattern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897880" y="1289304"/>
            <a:ext cx="2788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peaks at 8 AM and 5–6 PM match commuter usage. Near-zero demand 0–5 AM validates temporal lag features.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60720" y="2258568"/>
            <a:ext cx="3017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60720" y="2258568"/>
            <a:ext cx="54864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97880" y="2304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Year-on-Year Growth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897880" y="2587752"/>
            <a:ext cx="2788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rentals nearly doubled from 2011 to 2012, confirming growing adoption — the year feature (yr) is significant.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760720" y="3557016"/>
            <a:ext cx="3017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760720" y="3557016"/>
            <a:ext cx="54864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97880" y="36027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Seasons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897880" y="3886200"/>
            <a:ext cx="2788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seasons have ~equal record counts, so seasonal effects are genuine signal, not a sampling artefact.</a:t>
            </a:r>
            <a:endParaRPr lang="en-US" sz="1000" dirty="0"/>
          </a:p>
        </p:txBody>
      </p:sp>
      <p:pic>
        <p:nvPicPr>
          <p:cNvPr id="21" name="Picture 4">
            <a:extLst>
              <a:ext uri="{FF2B5EF4-FFF2-40B4-BE49-F238E27FC236}">
                <a16:creationId xmlns:a16="http://schemas.microsoft.com/office/drawing/2014/main" id="{BA7DA8DB-495B-AFC6-4173-234D2379C4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19" y="1394460"/>
            <a:ext cx="4854893" cy="1792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>
            <a:extLst>
              <a:ext uri="{FF2B5EF4-FFF2-40B4-BE49-F238E27FC236}">
                <a16:creationId xmlns:a16="http://schemas.microsoft.com/office/drawing/2014/main" id="{17030221-7395-E619-CA72-E76EDE394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500" y="3192103"/>
            <a:ext cx="2048664" cy="169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>
            <a:extLst>
              <a:ext uri="{FF2B5EF4-FFF2-40B4-BE49-F238E27FC236}">
                <a16:creationId xmlns:a16="http://schemas.microsoft.com/office/drawing/2014/main" id="{AE765BBD-687D-9570-434F-6429A0821D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202" y="3181915"/>
            <a:ext cx="2164905" cy="171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 &amp; Justification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2697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60120"/>
            <a:ext cx="26974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601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Random Forest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Why chosen: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673352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ensemble — robust to outliers, interpretable feature importance.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624328"/>
            <a:ext cx="2468880" cy="0"/>
          </a:xfrm>
          <a:prstGeom prst="line">
            <a:avLst/>
          </a:prstGeom>
          <a:noFill/>
          <a:ln w="12700">
            <a:solidFill>
              <a:srgbClr val="E2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974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Key parameters: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026662"/>
            <a:ext cx="2542032" cy="14760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000" dirty="0"/>
              <a:t>Ensemble model combining multiple decision trees to improve prediction stability.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 err="1"/>
              <a:t>RandomForestRegressor</a:t>
            </a:r>
            <a:r>
              <a:rPr lang="en-US" sz="1000" dirty="0"/>
              <a:t>(</a:t>
            </a:r>
            <a:r>
              <a:rPr lang="en-US" sz="1000" dirty="0" err="1"/>
              <a:t>random_state</a:t>
            </a:r>
            <a:r>
              <a:rPr lang="en-US" sz="1000" dirty="0"/>
              <a:t>=42).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 err="1"/>
              <a:t>max_depth</a:t>
            </a:r>
            <a:r>
              <a:rPr lang="en-US" sz="1000" dirty="0"/>
              <a:t> → controls tree complexity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000" dirty="0"/>
              <a:t>Trained on: encoded categorical + cyclical features.</a:t>
            </a:r>
          </a:p>
        </p:txBody>
      </p:sp>
      <p:sp>
        <p:nvSpPr>
          <p:cNvPr id="13" name="Shape 11"/>
          <p:cNvSpPr/>
          <p:nvPr/>
        </p:nvSpPr>
        <p:spPr>
          <a:xfrm>
            <a:off x="3291840" y="987552"/>
            <a:ext cx="2697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960120"/>
            <a:ext cx="269748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9601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XGBoost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383280" y="14173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Why chosen: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1673352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suited for nonlinear interactions; sequential trees correct residuals. Lag features enable explicit temporal modelling.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83280" y="2624328"/>
            <a:ext cx="2468880" cy="0"/>
          </a:xfrm>
          <a:prstGeom prst="line">
            <a:avLst/>
          </a:prstGeom>
          <a:noFill/>
          <a:ln w="12700">
            <a:solidFill>
              <a:srgbClr val="E2EA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26974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Key parameters: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55848" y="3026662"/>
            <a:ext cx="2542032" cy="16205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000" dirty="0"/>
              <a:t>Gradient boosting model where trees are built sequentially to minimize errors.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 err="1"/>
              <a:t>n_estimators</a:t>
            </a:r>
            <a:r>
              <a:rPr lang="en-US" sz="1000" dirty="0"/>
              <a:t> = 800 → number of trees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 err="1"/>
              <a:t>learning_rate</a:t>
            </a:r>
            <a:r>
              <a:rPr lang="en-US" sz="1000" dirty="0"/>
              <a:t> = 0.05 → learning speed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 err="1"/>
              <a:t>max_depth</a:t>
            </a:r>
            <a:r>
              <a:rPr lang="en-US" sz="1000" dirty="0"/>
              <a:t> = 7 → tree depth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000" dirty="0"/>
              <a:t>Uses: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000" dirty="0"/>
              <a:t>lag features (lag_1, lag_24, lag_168)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000" dirty="0"/>
              <a:t>Captures complex nonlinear relationships.</a:t>
            </a:r>
          </a:p>
        </p:txBody>
      </p:sp>
      <p:sp>
        <p:nvSpPr>
          <p:cNvPr id="21" name="Shape 19"/>
          <p:cNvSpPr/>
          <p:nvPr/>
        </p:nvSpPr>
        <p:spPr>
          <a:xfrm>
            <a:off x="6172200" y="973141"/>
            <a:ext cx="2697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960120"/>
            <a:ext cx="269748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9601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SARIMA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263640" y="14173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Why chosen: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63640" y="1673352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time-series baseline to quantify the gain from ML approaches over traditional statistical methods.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2624328"/>
            <a:ext cx="2468880" cy="0"/>
          </a:xfrm>
          <a:prstGeom prst="line">
            <a:avLst/>
          </a:prstGeom>
          <a:noFill/>
          <a:ln w="12700">
            <a:solidFill>
              <a:srgbClr val="E2EA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26974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Key parameters: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72200" y="3026662"/>
            <a:ext cx="2633472" cy="16824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300"/>
              </a:spcAft>
              <a:buSzPct val="100000"/>
            </a:pPr>
            <a:endParaRPr lang="en-US" sz="95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D22E6FF-31DC-398D-8CCE-EE75835B3BEA}"/>
              </a:ext>
            </a:extLst>
          </p:cNvPr>
          <p:cNvSpPr txBox="1"/>
          <p:nvPr/>
        </p:nvSpPr>
        <p:spPr>
          <a:xfrm>
            <a:off x="6286500" y="3026662"/>
            <a:ext cx="246888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/>
              <a:t>Time series model capturing trend and seasonality.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/>
              <a:t>order = (1, 0, 1) → AR and MA components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 err="1"/>
              <a:t>seasonal_order</a:t>
            </a:r>
            <a:r>
              <a:rPr lang="en-US" sz="1000" dirty="0"/>
              <a:t> = (1, 0, 1, 24) → daily seasonality</a:t>
            </a:r>
          </a:p>
          <a:p>
            <a:endParaRPr lang="en-IN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5618" y="1426464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75618" y="1435607"/>
            <a:ext cx="26974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19597" y="14173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Random Forest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467058" y="1942338"/>
            <a:ext cx="2514600" cy="27432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15044" y="194233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</a:rPr>
              <a:t>R²=0.866  |  RMSE=80.67  |  MAE=53.51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467058" y="2331720"/>
            <a:ext cx="2514600" cy="0"/>
          </a:xfrm>
          <a:prstGeom prst="line">
            <a:avLst/>
          </a:prstGeom>
          <a:noFill/>
          <a:ln w="12700">
            <a:solidFill>
              <a:srgbClr val="E2EA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7058" y="2422329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Best Parameters: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75618" y="2680024"/>
            <a:ext cx="2487168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 = 300</a:t>
            </a:r>
            <a:endParaRPr lang="en-US" sz="105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= 25</a:t>
            </a:r>
            <a:endParaRPr lang="en-US" sz="105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min_samples_leaf = 2</a:t>
            </a:r>
            <a:endParaRPr lang="en-US" sz="105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min_samples_split = 2</a:t>
            </a:r>
            <a:endParaRPr lang="en-US" sz="105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max_features = None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375618" y="4616750"/>
            <a:ext cx="2697480" cy="329184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98478" y="461578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20 iterations  ·  100 total fits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09804" y="1417320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09804" y="1426464"/>
            <a:ext cx="269748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99641" y="142646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XGBoost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55524" y="1931324"/>
            <a:ext cx="2514600" cy="27432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55524" y="19195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</a:rPr>
              <a:t>R²=0.955  |  RMSE=46.13  |  MAE=29.84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78384" y="2331720"/>
            <a:ext cx="2514600" cy="0"/>
          </a:xfrm>
          <a:prstGeom prst="line">
            <a:avLst/>
          </a:prstGeom>
          <a:noFill/>
          <a:ln w="12700">
            <a:solidFill>
              <a:srgbClr val="E2EA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8384" y="24428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Best Parameters: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09804" y="2720340"/>
            <a:ext cx="2487168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 = 800</a:t>
            </a:r>
            <a:endParaRPr lang="en-US" sz="105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 = 0.1</a:t>
            </a:r>
            <a:endParaRPr lang="en-US" sz="105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= 3</a:t>
            </a:r>
            <a:endParaRPr lang="en-US" sz="105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 = 1.0</a:t>
            </a:r>
            <a:endParaRPr lang="en-US" sz="105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colsample_bytree = 0.7</a:t>
            </a:r>
            <a:endParaRPr lang="en-US" sz="105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reg_lambda = 1.5, reg_alpha = 0.01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09804" y="4599155"/>
            <a:ext cx="2697480" cy="329184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32664" y="4599155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25 iterations  ·  125 total fits</a:t>
            </a:r>
            <a:endParaRPr lang="en-US" sz="900" dirty="0"/>
          </a:p>
        </p:txBody>
      </p:sp>
      <p:sp>
        <p:nvSpPr>
          <p:cNvPr id="39" name="Shape 3">
            <a:extLst>
              <a:ext uri="{FF2B5EF4-FFF2-40B4-BE49-F238E27FC236}">
                <a16:creationId xmlns:a16="http://schemas.microsoft.com/office/drawing/2014/main" id="{6A95C901-B0FA-70C6-FD45-9B5AA07F1CA7}"/>
              </a:ext>
            </a:extLst>
          </p:cNvPr>
          <p:cNvSpPr/>
          <p:nvPr/>
        </p:nvSpPr>
        <p:spPr>
          <a:xfrm>
            <a:off x="411480" y="995380"/>
            <a:ext cx="8321040" cy="347472"/>
          </a:xfrm>
          <a:prstGeom prst="rect">
            <a:avLst/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</p:spPr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ACC334D3-20D8-175E-1E1D-3BEC599A2DB0}"/>
              </a:ext>
            </a:extLst>
          </p:cNvPr>
          <p:cNvSpPr/>
          <p:nvPr/>
        </p:nvSpPr>
        <p:spPr>
          <a:xfrm>
            <a:off x="594360" y="987827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Method: </a:t>
            </a:r>
            <a:r>
              <a:rPr lang="en-US" sz="1100" dirty="0">
                <a:solidFill>
                  <a:srgbClr val="FFFFFF"/>
                </a:solidFill>
              </a:rPr>
              <a:t>RandomizedSearchCV   </a:t>
            </a:r>
            <a:r>
              <a:rPr lang="en-US" sz="1100" b="1" dirty="0">
                <a:solidFill>
                  <a:srgbClr val="F59E0B"/>
                </a:solidFill>
              </a:rPr>
              <a:t>Splits: </a:t>
            </a:r>
            <a:r>
              <a:rPr lang="en-US" sz="1100" dirty="0">
                <a:solidFill>
                  <a:srgbClr val="FFFFFF"/>
                </a:solidFill>
              </a:rPr>
              <a:t>TimeSeriesSplit(n_splits=5)   </a:t>
            </a:r>
            <a:r>
              <a:rPr lang="en-US" sz="1100" b="1" dirty="0">
                <a:solidFill>
                  <a:srgbClr val="F59E0B"/>
                </a:solidFill>
              </a:rPr>
              <a:t>Metric: </a:t>
            </a:r>
            <a:r>
              <a:rPr lang="en-US" sz="1100" dirty="0">
                <a:solidFill>
                  <a:srgbClr val="FFFFFF"/>
                </a:solidFill>
              </a:rPr>
              <a:t>neg_RMSE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8FD3DA-F6B3-1E42-7AE0-444B08FD2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6BF8EB0-1F09-A585-8AEE-725CE20B67B3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4DDE190-D336-8E8B-94B6-1D9F3A4B4B51}"/>
              </a:ext>
            </a:extLst>
          </p:cNvPr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0A1D764-FAD4-6529-8EC4-BE2BE57215F8}"/>
              </a:ext>
            </a:extLst>
          </p:cNvPr>
          <p:cNvSpPr/>
          <p:nvPr/>
        </p:nvSpPr>
        <p:spPr>
          <a:xfrm>
            <a:off x="41148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03AD120E-C065-35EB-4996-DFA20A30E7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8679"/>
              </p:ext>
            </p:extLst>
          </p:nvPr>
        </p:nvGraphicFramePr>
        <p:xfrm>
          <a:off x="320040" y="1129165"/>
          <a:ext cx="8321040" cy="2625417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81.327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53.929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35.711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46.977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29.102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25.474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2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SARIMA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157.973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119.676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311.479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9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(Tuned)</a:t>
                      </a:r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0.866</a:t>
                      </a:r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80.668</a:t>
                      </a:r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53.511</a:t>
                      </a:r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35.413</a:t>
                      </a:r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7122065"/>
                  </a:ext>
                </a:extLst>
              </a:tr>
              <a:tr h="4169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(Tuned)</a:t>
                      </a:r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0.955</a:t>
                      </a:r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46.132</a:t>
                      </a:r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29.838</a:t>
                      </a:r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29.380</a:t>
                      </a:r>
                    </a:p>
                  </a:txBody>
                  <a:tcPr>
                    <a:lnL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52396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6368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60120"/>
            <a:ext cx="411480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Key Achievements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49601"/>
            <a:ext cx="3886200" cy="24594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Tuned achieved best performance: R²=0.955, RMSE=46.13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Cyclical (sin/cos) encoding improved temporal generalisation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 (1 hr, 24 hr, 168 hr) captured autocorrelation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with TimeSeriesSplit prevented future leakage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 confirms ML substantially outperforms linear time-series (R²=0.487)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Singh et al. (2020) RF baseline by +0.10 R²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114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960120"/>
            <a:ext cx="411480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Future Work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73168" y="1449601"/>
            <a:ext cx="38862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(LSTM / GRU) for sequence modelling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real-time weather API &amp; event calendar data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demand heatmaps across docking stations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2926080"/>
            <a:ext cx="4114800" cy="1965960"/>
          </a:xfrm>
          <a:prstGeom prst="rect">
            <a:avLst/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2926080"/>
            <a:ext cx="411480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926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Wider Implications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73168" y="3346704"/>
            <a:ext cx="3886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7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Operational: fewer empty/full docking stations → reduced user friction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7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Commercial: operator cost savings via optimised rebalancing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7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Societal: supports sustainable last-mile urban transport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to Literature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83210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8546" y="1291798"/>
            <a:ext cx="64008" cy="10607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35137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Sathishkumar, Park &amp; Cho (2020)</a:t>
            </a:r>
            <a:r>
              <a:rPr lang="en-US" sz="1100" i="1" dirty="0">
                <a:solidFill>
                  <a:srgbClr val="64748B"/>
                </a:solidFill>
              </a:rPr>
              <a:t>  (Computer Communications, 153, 353–366)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62569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Approach: GBM, XGBTree, SVM, BT, LM — Seoul Bike dataset (8,760 hourly records, 2017–2018)   |   R²: GBM: 0.92 | XGBTree: 0.91 (test set)   |   RMSE: GBM: 172.73 | XGBTree: 183.80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1920240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XGBoost (R²=0.954, RMSE=46.97) outperforms on the UCI dataset; lag features and cyclical encoding capture temporal patterns that static feature sets miss.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8546" y="2583041"/>
            <a:ext cx="83210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583041"/>
            <a:ext cx="64008" cy="10607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64954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Sathishkumar &amp; Cho (2020)</a:t>
            </a:r>
            <a:r>
              <a:rPr lang="en-US" sz="1100" i="1" dirty="0">
                <a:solidFill>
                  <a:srgbClr val="64748B"/>
                </a:solidFill>
              </a:rPr>
              <a:t>  (European Journal of Remote Sensing, 53(S1), 166–183)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293051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Approach: Rule-based CUBIST model vs RRF, CART, KNN, CIT — Seoul Bike &amp; Capital Bikeshare   |   R²: CUBIST: 0.95 (Seoul) | 0.89 (Capital Bikeshare)   |   RMSE: CUBIST: 139.64 (Seoul)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" y="3206773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CUBIST achieves R²=0.95 on Seoul Bike via rule-based linear combinations. Our gradient-boosting approach with lag features matches this on the UCI dataset while remaining interpretable.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849624"/>
            <a:ext cx="83210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849624"/>
            <a:ext cx="64008" cy="10607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89534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Shaheen, Guzman &amp; Zhang (2010)</a:t>
            </a:r>
            <a:r>
              <a:rPr lang="en-US" sz="1100" i="1" dirty="0">
                <a:solidFill>
                  <a:srgbClr val="64748B"/>
                </a:solidFill>
              </a:rPr>
              <a:t>  (Transportation Research Record, 2143(1), 159–167)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416966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Approach: Global review of bikesharing systems across Europe, Americas and Asia — 100+ programs, 139,300 bicycles   |   R²: Context paper — no prediction metrics   |   RMSE: —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6928" y="4425696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the societal and operational importance of accurate demand forecasting; motivates the need for ML-based approaches as systems scale to thousands of stations.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51560"/>
            <a:ext cx="64008" cy="10241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51560"/>
            <a:ext cx="365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[1]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87552" y="1124712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Singh, V., Singh, P. and Jain, R. (2020). Bike sharing demand prediction using machine learning techniques. Journal of Statistics and Management Systems, 23(5), pp. 937–950. https://www.tandfonline.com/doi/full/10.1080/22797254.2020.1777802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2240280"/>
            <a:ext cx="83210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240280"/>
            <a:ext cx="64008" cy="10241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40280"/>
            <a:ext cx="365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[2]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87552" y="2313432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Fanaee-T, H. and Gama, J. (2014). Event labeling combining ensemble detectors and background knowledge. Progress in Artificial Intelligence. https://escholarship.org/uc/item/79v822k5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3429000"/>
            <a:ext cx="83210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3429000"/>
            <a:ext cx="64008" cy="10241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429000"/>
            <a:ext cx="365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[3]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7552" y="3502152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Liu, Y., Zheng, Y. and Zhang, L. (2020). Bike sharing demand prediction using machine learning techniques. Computer Communications, 153, pp. 1–10. https://www.sciencedirect.com/science/article/pii/S0140366419318997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5080</TotalTime>
  <Words>1719</Words>
  <Application>Microsoft Office PowerPoint</Application>
  <PresentationFormat>On-screen Show (16:9)</PresentationFormat>
  <Paragraphs>241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Bike Sharing Demand Using Machine Learning</dc:title>
  <dc:subject>PptxGenJS Presentation</dc:subject>
  <dc:creator>PptxGenJS</dc:creator>
  <cp:lastModifiedBy>sai prathap</cp:lastModifiedBy>
  <cp:revision>17</cp:revision>
  <dcterms:created xsi:type="dcterms:W3CDTF">2026-03-23T13:34:30Z</dcterms:created>
  <dcterms:modified xsi:type="dcterms:W3CDTF">2026-03-28T20:28:04Z</dcterms:modified>
</cp:coreProperties>
</file>